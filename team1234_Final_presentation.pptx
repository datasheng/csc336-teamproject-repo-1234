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0" roundtripDataSignature="AMtx7mjltCWvBGvQ6jPKTusYHT3pTt1s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ce6cc5954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ace6cc5954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ce6cc5954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ace6cc595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Go to showcase their use</a:t>
            </a:r>
            <a:endParaRPr/>
          </a:p>
        </p:txBody>
      </p:sp>
      <p:sp>
        <p:nvSpPr>
          <p:cNvPr id="197" name="Google Shape;19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c886822b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ac886822b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42900" lvl="0" marL="342900" rtl="0" algn="l">
              <a:spcBef>
                <a:spcPts val="0"/>
              </a:spcBef>
              <a:spcAft>
                <a:spcPts val="0"/>
              </a:spcAft>
              <a:buClr>
                <a:schemeClr val="dk1"/>
              </a:buClr>
              <a:buSzPts val="2100"/>
              <a:buChar char="•"/>
            </a:pPr>
            <a:r>
              <a:rPr lang="en-US" sz="2100">
                <a:solidFill>
                  <a:schemeClr val="dk1"/>
                </a:solidFill>
                <a:latin typeface="Calibri"/>
                <a:ea typeface="Calibri"/>
                <a:cs typeface="Calibri"/>
                <a:sym typeface="Calibri"/>
              </a:rPr>
              <a:t>Allocate 5-8 minutes for questions and examination to address any queries or concerns from the audience.</a:t>
            </a:r>
            <a:endParaRPr sz="3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236" name="Google Shape;23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 name="Shape 23"/>
        <p:cNvGrpSpPr/>
        <p:nvPr/>
      </p:nvGrpSpPr>
      <p:grpSpPr>
        <a:xfrm>
          <a:off x="0" y="0"/>
          <a:ext cx="0" cy="0"/>
          <a:chOff x="0" y="0"/>
          <a:chExt cx="0" cy="0"/>
        </a:xfrm>
      </p:grpSpPr>
      <p:sp>
        <p:nvSpPr>
          <p:cNvPr id="24" name="Google Shape;24;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6" name="Google Shape;26;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7" name="Google Shape;2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3" name="Google Shape;33;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5" name="Google Shape;85;p1"/>
          <p:cNvPicPr preferRelativeResize="0"/>
          <p:nvPr/>
        </p:nvPicPr>
        <p:blipFill rotWithShape="1">
          <a:blip r:embed="rId3">
            <a:alphaModFix/>
          </a:blip>
          <a:srcRect b="2747" l="18709" r="29429" t="0"/>
          <a:stretch/>
        </p:blipFill>
        <p:spPr>
          <a:xfrm>
            <a:off x="2642616" y="10"/>
            <a:ext cx="6501384" cy="6857990"/>
          </a:xfrm>
          <a:prstGeom prst="rect">
            <a:avLst/>
          </a:prstGeom>
          <a:noFill/>
          <a:ln>
            <a:noFill/>
          </a:ln>
        </p:spPr>
      </p:pic>
      <p:sp>
        <p:nvSpPr>
          <p:cNvPr id="86" name="Google Shape;86;p1"/>
          <p:cNvSpPr/>
          <p:nvPr/>
        </p:nvSpPr>
        <p:spPr>
          <a:xfrm>
            <a:off x="0" y="0"/>
            <a:ext cx="7317450" cy="6858000"/>
          </a:xfrm>
          <a:prstGeom prst="rect">
            <a:avLst/>
          </a:prstGeom>
          <a:gradFill>
            <a:gsLst>
              <a:gs pos="0">
                <a:srgbClr val="FFFFFF">
                  <a:alpha val="0"/>
                </a:srgbClr>
              </a:gs>
              <a:gs pos="19000">
                <a:srgbClr val="FFFFFF">
                  <a:alpha val="37254"/>
                </a:srgbClr>
              </a:gs>
              <a:gs pos="35000">
                <a:srgbClr val="FFFFFF">
                  <a:alpha val="78431"/>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ph type="ctrTitle"/>
          </p:nvPr>
        </p:nvSpPr>
        <p:spPr>
          <a:xfrm>
            <a:off x="358485" y="1122363"/>
            <a:ext cx="3017520" cy="320413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600"/>
              <a:buFont typeface="Calibri"/>
              <a:buNone/>
            </a:pPr>
            <a:r>
              <a:rPr lang="en-US" sz="3600"/>
              <a:t>CampusTix Final Report</a:t>
            </a:r>
            <a:endParaRPr/>
          </a:p>
        </p:txBody>
      </p:sp>
      <p:sp>
        <p:nvSpPr>
          <p:cNvPr id="88" name="Google Shape;88;p1"/>
          <p:cNvSpPr txBox="1"/>
          <p:nvPr>
            <p:ph idx="1" type="subTitle"/>
          </p:nvPr>
        </p:nvSpPr>
        <p:spPr>
          <a:xfrm>
            <a:off x="358485" y="4887354"/>
            <a:ext cx="3017400" cy="12081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rgbClr val="888888"/>
              </a:buClr>
              <a:buSzPct val="100000"/>
              <a:buNone/>
            </a:pPr>
            <a:r>
              <a:rPr lang="en-US" sz="1700"/>
              <a:t>CCNY - CSC 336 </a:t>
            </a:r>
            <a:endParaRPr sz="1700"/>
          </a:p>
          <a:p>
            <a:pPr indent="0" lvl="0" marL="0" rtl="0" algn="l">
              <a:lnSpc>
                <a:spcPct val="100000"/>
              </a:lnSpc>
              <a:spcBef>
                <a:spcPts val="0"/>
              </a:spcBef>
              <a:spcAft>
                <a:spcPts val="0"/>
              </a:spcAft>
              <a:buClr>
                <a:srgbClr val="888888"/>
              </a:buClr>
              <a:buSzPct val="100000"/>
              <a:buNone/>
            </a:pPr>
            <a:r>
              <a:t/>
            </a:r>
            <a:endParaRPr sz="1700"/>
          </a:p>
          <a:p>
            <a:pPr indent="0" lvl="0" marL="0" rtl="0" algn="l">
              <a:lnSpc>
                <a:spcPct val="100000"/>
              </a:lnSpc>
              <a:spcBef>
                <a:spcPts val="0"/>
              </a:spcBef>
              <a:spcAft>
                <a:spcPts val="0"/>
              </a:spcAft>
              <a:buClr>
                <a:srgbClr val="888888"/>
              </a:buClr>
              <a:buSzPct val="100000"/>
              <a:buNone/>
            </a:pPr>
            <a:r>
              <a:rPr lang="en-US" sz="1700"/>
              <a:t>By: Team 1234</a:t>
            </a:r>
            <a:br>
              <a:rPr lang="en-US" sz="1700"/>
            </a:br>
            <a:r>
              <a:rPr lang="en-US" sz="1700"/>
              <a:t>Bryan Dong, Sushanta Sapkota, Joseph Helfenbein, Pragyam Tiwari, Sajid Patwary, Tanvir Islam</a:t>
            </a:r>
            <a:endParaRPr sz="1700"/>
          </a:p>
        </p:txBody>
      </p:sp>
      <p:sp>
        <p:nvSpPr>
          <p:cNvPr id="89" name="Google Shape;89;p1"/>
          <p:cNvSpPr/>
          <p:nvPr/>
        </p:nvSpPr>
        <p:spPr>
          <a:xfrm rot="5400000">
            <a:off x="551653" y="434802"/>
            <a:ext cx="146304" cy="52806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0" name="Google Shape;90;p1"/>
          <p:cNvSpPr/>
          <p:nvPr/>
        </p:nvSpPr>
        <p:spPr>
          <a:xfrm>
            <a:off x="360771" y="4546920"/>
            <a:ext cx="298323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94" name="Shape 94"/>
        <p:cNvGrpSpPr/>
        <p:nvPr/>
      </p:nvGrpSpPr>
      <p:grpSpPr>
        <a:xfrm>
          <a:off x="0" y="0"/>
          <a:ext cx="0" cy="0"/>
          <a:chOff x="0" y="0"/>
          <a:chExt cx="0" cy="0"/>
        </a:xfrm>
      </p:grpSpPr>
      <p:sp>
        <p:nvSpPr>
          <p:cNvPr id="95" name="Google Shape;95;p3"/>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Drawings on colourful paper" id="96" name="Google Shape;96;p3"/>
          <p:cNvPicPr preferRelativeResize="0"/>
          <p:nvPr/>
        </p:nvPicPr>
        <p:blipFill rotWithShape="1">
          <a:blip r:embed="rId3">
            <a:alphaModFix/>
          </a:blip>
          <a:srcRect b="-1" l="17647" r="37903" t="0"/>
          <a:stretch/>
        </p:blipFill>
        <p:spPr>
          <a:xfrm>
            <a:off x="4577270" y="10"/>
            <a:ext cx="4566728" cy="6857990"/>
          </a:xfrm>
          <a:prstGeom prst="rect">
            <a:avLst/>
          </a:prstGeom>
          <a:noFill/>
          <a:ln>
            <a:noFill/>
          </a:ln>
        </p:spPr>
      </p:pic>
      <p:sp>
        <p:nvSpPr>
          <p:cNvPr id="97" name="Google Shape;97;p3"/>
          <p:cNvSpPr/>
          <p:nvPr/>
        </p:nvSpPr>
        <p:spPr>
          <a:xfrm>
            <a:off x="0" y="0"/>
            <a:ext cx="4577268" cy="6858000"/>
          </a:xfrm>
          <a:prstGeom prst="rect">
            <a:avLst/>
          </a:prstGeom>
          <a:solidFill>
            <a:schemeClr val="lt1"/>
          </a:solidFill>
          <a:ln>
            <a:noFill/>
          </a:ln>
          <a:effectLst>
            <a:outerShdw blurRad="889000" sx="90000" rotWithShape="0" algn="t" dir="21540000" dist="406400" sy="90000">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3"/>
          <p:cNvSpPr/>
          <p:nvPr/>
        </p:nvSpPr>
        <p:spPr>
          <a:xfrm>
            <a:off x="0" y="0"/>
            <a:ext cx="4577268" cy="2285995"/>
          </a:xfrm>
          <a:prstGeom prst="rect">
            <a:avLst/>
          </a:prstGeom>
          <a:solidFill>
            <a:schemeClr val="lt1"/>
          </a:solidFill>
          <a:ln>
            <a:noFill/>
          </a:ln>
          <a:effectLst>
            <a:outerShdw blurRad="254000" sx="92000" rotWithShape="0" algn="t" dir="5460000" dist="127000" sy="920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3"/>
          <p:cNvSpPr txBox="1"/>
          <p:nvPr>
            <p:ph type="title"/>
          </p:nvPr>
        </p:nvSpPr>
        <p:spPr>
          <a:xfrm>
            <a:off x="571350" y="328512"/>
            <a:ext cx="3583791" cy="162897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500"/>
              <a:buFont typeface="Calibri"/>
              <a:buNone/>
            </a:pPr>
            <a:r>
              <a:rPr lang="en-US" sz="3500"/>
              <a:t>Demo Agenda </a:t>
            </a:r>
            <a:endParaRPr sz="3500"/>
          </a:p>
          <a:p>
            <a:pPr indent="0" lvl="0" marL="0" rtl="0" algn="ctr">
              <a:lnSpc>
                <a:spcPct val="100000"/>
              </a:lnSpc>
              <a:spcBef>
                <a:spcPts val="0"/>
              </a:spcBef>
              <a:spcAft>
                <a:spcPts val="0"/>
              </a:spcAft>
              <a:buClr>
                <a:schemeClr val="dk1"/>
              </a:buClr>
              <a:buSzPts val="3500"/>
              <a:buFont typeface="Calibri"/>
              <a:buNone/>
            </a:pPr>
            <a:r>
              <a:rPr lang="en-US" sz="3500"/>
              <a:t>10-12 minutes</a:t>
            </a:r>
            <a:endParaRPr sz="3500"/>
          </a:p>
        </p:txBody>
      </p:sp>
      <p:sp>
        <p:nvSpPr>
          <p:cNvPr id="100" name="Google Shape;100;p3"/>
          <p:cNvSpPr txBox="1"/>
          <p:nvPr>
            <p:ph idx="1" type="body"/>
          </p:nvPr>
        </p:nvSpPr>
        <p:spPr>
          <a:xfrm>
            <a:off x="571350" y="2884929"/>
            <a:ext cx="3494817" cy="3374137"/>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n-US" sz="1700"/>
              <a:t>1. Agenda </a:t>
            </a:r>
            <a:endParaRPr/>
          </a:p>
          <a:p>
            <a:pPr indent="0" lvl="0" marL="0" rtl="0" algn="l">
              <a:lnSpc>
                <a:spcPct val="100000"/>
              </a:lnSpc>
              <a:spcBef>
                <a:spcPts val="340"/>
              </a:spcBef>
              <a:spcAft>
                <a:spcPts val="0"/>
              </a:spcAft>
              <a:buClr>
                <a:schemeClr val="dk1"/>
              </a:buClr>
              <a:buSzPct val="100000"/>
              <a:buNone/>
            </a:pPr>
            <a:r>
              <a:rPr lang="en-US" sz="1700"/>
              <a:t>2. Introduction/brief  Job Delegation and Team Work</a:t>
            </a:r>
            <a:endParaRPr/>
          </a:p>
          <a:p>
            <a:pPr indent="0" lvl="0" marL="0" rtl="0" algn="l">
              <a:lnSpc>
                <a:spcPct val="100000"/>
              </a:lnSpc>
              <a:spcBef>
                <a:spcPts val="340"/>
              </a:spcBef>
              <a:spcAft>
                <a:spcPts val="0"/>
              </a:spcAft>
              <a:buClr>
                <a:schemeClr val="dk1"/>
              </a:buClr>
              <a:buSzPct val="100000"/>
              <a:buNone/>
            </a:pPr>
            <a:r>
              <a:rPr lang="en-US" sz="1700"/>
              <a:t>3. Use Cases/Actions</a:t>
            </a:r>
            <a:endParaRPr/>
          </a:p>
          <a:p>
            <a:pPr indent="0" lvl="0" marL="0" rtl="0" algn="l">
              <a:lnSpc>
                <a:spcPct val="100000"/>
              </a:lnSpc>
              <a:spcBef>
                <a:spcPts val="340"/>
              </a:spcBef>
              <a:spcAft>
                <a:spcPts val="0"/>
              </a:spcAft>
              <a:buClr>
                <a:schemeClr val="dk1"/>
              </a:buClr>
              <a:buSzPct val="100000"/>
              <a:buNone/>
            </a:pPr>
            <a:r>
              <a:rPr lang="en-US" sz="1700"/>
              <a:t>4. Landing Demonstration</a:t>
            </a:r>
            <a:endParaRPr/>
          </a:p>
          <a:p>
            <a:pPr indent="0" lvl="0" marL="0" rtl="0" algn="l">
              <a:lnSpc>
                <a:spcPct val="100000"/>
              </a:lnSpc>
              <a:spcBef>
                <a:spcPts val="340"/>
              </a:spcBef>
              <a:spcAft>
                <a:spcPts val="0"/>
              </a:spcAft>
              <a:buClr>
                <a:schemeClr val="dk1"/>
              </a:buClr>
              <a:buSzPct val="100000"/>
              <a:buNone/>
            </a:pPr>
            <a:r>
              <a:rPr lang="en-US" sz="1700"/>
              <a:t>5. User Action Demonstration (following #3)</a:t>
            </a:r>
            <a:endParaRPr/>
          </a:p>
          <a:p>
            <a:pPr indent="0" lvl="0" marL="0" rtl="0" algn="l">
              <a:lnSpc>
                <a:spcPct val="100000"/>
              </a:lnSpc>
              <a:spcBef>
                <a:spcPts val="340"/>
              </a:spcBef>
              <a:spcAft>
                <a:spcPts val="0"/>
              </a:spcAft>
              <a:buClr>
                <a:schemeClr val="dk1"/>
              </a:buClr>
              <a:buSzPct val="100000"/>
              <a:buNone/>
            </a:pPr>
            <a:r>
              <a:rPr lang="en-US" sz="1700"/>
              <a:t>6. Stored Procedures Demonstration</a:t>
            </a:r>
            <a:endParaRPr/>
          </a:p>
          <a:p>
            <a:pPr indent="0" lvl="0" marL="0" rtl="0" algn="l">
              <a:lnSpc>
                <a:spcPct val="100000"/>
              </a:lnSpc>
              <a:spcBef>
                <a:spcPts val="340"/>
              </a:spcBef>
              <a:spcAft>
                <a:spcPts val="0"/>
              </a:spcAft>
              <a:buClr>
                <a:schemeClr val="dk1"/>
              </a:buClr>
              <a:buSzPct val="100000"/>
              <a:buNone/>
            </a:pPr>
            <a:r>
              <a:rPr lang="en-US" sz="1700"/>
              <a:t>7. 2NF Relational Model Diagram (final)</a:t>
            </a:r>
            <a:endParaRPr sz="1700"/>
          </a:p>
          <a:p>
            <a:pPr indent="0" lvl="0" marL="0" rtl="0" algn="l">
              <a:lnSpc>
                <a:spcPct val="100000"/>
              </a:lnSpc>
              <a:spcBef>
                <a:spcPts val="340"/>
              </a:spcBef>
              <a:spcAft>
                <a:spcPts val="0"/>
              </a:spcAft>
              <a:buClr>
                <a:schemeClr val="dk1"/>
              </a:buClr>
              <a:buSzPct val="100000"/>
              <a:buNone/>
            </a:pPr>
            <a:r>
              <a:rPr lang="en-US" sz="1700"/>
              <a:t>8. Takeaways from the project with practical database implementation</a:t>
            </a:r>
            <a:endParaRPr sz="1700"/>
          </a:p>
          <a:p>
            <a:pPr indent="0" lvl="0" marL="0" rtl="0" algn="l">
              <a:lnSpc>
                <a:spcPct val="100000"/>
              </a:lnSpc>
              <a:spcBef>
                <a:spcPts val="340"/>
              </a:spcBef>
              <a:spcAft>
                <a:spcPts val="0"/>
              </a:spcAft>
              <a:buClr>
                <a:schemeClr val="dk1"/>
              </a:buClr>
              <a:buSzPct val="100000"/>
              <a:buNone/>
            </a:pPr>
            <a:r>
              <a:rPr lang="en-US" sz="1700"/>
              <a:t>9. Extra Credit Work</a:t>
            </a:r>
            <a:endParaRPr/>
          </a:p>
          <a:p>
            <a:pPr indent="0" lvl="0" marL="0" rtl="0" algn="l">
              <a:lnSpc>
                <a:spcPct val="100000"/>
              </a:lnSpc>
              <a:spcBef>
                <a:spcPts val="340"/>
              </a:spcBef>
              <a:spcAft>
                <a:spcPts val="0"/>
              </a:spcAft>
              <a:buClr>
                <a:schemeClr val="dk1"/>
              </a:buClr>
              <a:buSzPct val="100000"/>
              <a:buNone/>
            </a:pPr>
            <a:r>
              <a:rPr lang="en-US" sz="1700"/>
              <a:t>10. Questions and Examination</a:t>
            </a:r>
            <a:endParaRPr/>
          </a:p>
          <a:p>
            <a:pPr indent="0" lvl="0" marL="0" rtl="0" algn="l">
              <a:lnSpc>
                <a:spcPct val="100000"/>
              </a:lnSpc>
              <a:spcBef>
                <a:spcPts val="340"/>
              </a:spcBef>
              <a:spcAft>
                <a:spcPts val="0"/>
              </a:spcAft>
              <a:buClr>
                <a:schemeClr val="dk1"/>
              </a:buClr>
              <a:buSzPct val="100000"/>
              <a:buNone/>
            </a:pPr>
            <a:r>
              <a:rPr lang="en-US" sz="1700"/>
              <a:t>11. Submission and Grading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4"/>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4"/>
          <p:cNvSpPr/>
          <p:nvPr/>
        </p:nvSpPr>
        <p:spPr>
          <a:xfrm>
            <a:off x="0" y="0"/>
            <a:ext cx="3614166"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round/>
            <a:headEnd len="sm" w="sm" type="none"/>
            <a:tailEnd len="sm" w="sm" type="none"/>
          </a:ln>
          <a:effectLst>
            <a:outerShdw blurRad="88900" rotWithShape="0" algn="l" dist="38100">
              <a:srgbClr val="D8D8D8">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 name="Google Shape;107;p4"/>
          <p:cNvSpPr/>
          <p:nvPr/>
        </p:nvSpPr>
        <p:spPr>
          <a:xfrm>
            <a:off x="0" y="0"/>
            <a:ext cx="3608608"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 name="Google Shape;108;p4"/>
          <p:cNvSpPr txBox="1"/>
          <p:nvPr>
            <p:ph type="title"/>
          </p:nvPr>
        </p:nvSpPr>
        <p:spPr>
          <a:xfrm>
            <a:off x="466344" y="1161288"/>
            <a:ext cx="2702052" cy="45262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500"/>
              <a:buFont typeface="Calibri"/>
              <a:buNone/>
            </a:pPr>
            <a:r>
              <a:rPr lang="en-US" sz="3500"/>
              <a:t>Introduction</a:t>
            </a:r>
            <a:endParaRPr sz="3500"/>
          </a:p>
        </p:txBody>
      </p:sp>
      <p:sp>
        <p:nvSpPr>
          <p:cNvPr id="109" name="Google Shape;109;p4"/>
          <p:cNvSpPr/>
          <p:nvPr/>
        </p:nvSpPr>
        <p:spPr>
          <a:xfrm>
            <a:off x="0" y="3081528"/>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10" name="Google Shape;110;p4"/>
          <p:cNvGrpSpPr/>
          <p:nvPr/>
        </p:nvGrpSpPr>
        <p:grpSpPr>
          <a:xfrm>
            <a:off x="3977640" y="678944"/>
            <a:ext cx="4773168" cy="5509255"/>
            <a:chOff x="0" y="2288"/>
            <a:chExt cx="4773168" cy="5509255"/>
          </a:xfrm>
        </p:grpSpPr>
        <p:sp>
          <p:nvSpPr>
            <p:cNvPr id="111" name="Google Shape;111;p4"/>
            <p:cNvSpPr/>
            <p:nvPr/>
          </p:nvSpPr>
          <p:spPr>
            <a:xfrm>
              <a:off x="0" y="2288"/>
              <a:ext cx="4773168" cy="115984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nvSpPr>
          <p:spPr>
            <a:xfrm>
              <a:off x="350852" y="263253"/>
              <a:ext cx="637913" cy="637913"/>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4"/>
            <p:cNvSpPr/>
            <p:nvPr/>
          </p:nvSpPr>
          <p:spPr>
            <a:xfrm>
              <a:off x="1339618" y="2288"/>
              <a:ext cx="3433549" cy="115984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
            <p:cNvSpPr txBox="1"/>
            <p:nvPr/>
          </p:nvSpPr>
          <p:spPr>
            <a:xfrm>
              <a:off x="1339618" y="2288"/>
              <a:ext cx="3433549" cy="1159843"/>
            </a:xfrm>
            <a:prstGeom prst="rect">
              <a:avLst/>
            </a:prstGeom>
            <a:noFill/>
            <a:ln>
              <a:noFill/>
            </a:ln>
          </p:spPr>
          <p:txBody>
            <a:bodyPr anchorCtr="0" anchor="ctr" bIns="122750" lIns="122750" spcFirstLastPara="1" rIns="122750" wrap="square" tIns="122750">
              <a:noAutofit/>
            </a:bodyPr>
            <a:lstStyle/>
            <a:p>
              <a:pPr indent="0" lvl="0" marL="0" marR="0" rtl="0" algn="l">
                <a:lnSpc>
                  <a:spcPct val="90000"/>
                </a:lnSpc>
                <a:spcBef>
                  <a:spcPts val="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We are Team 1234, who worked together to complete this project.</a:t>
              </a:r>
              <a:endParaRPr b="0" i="0" sz="1400" u="none" cap="none" strike="noStrike">
                <a:solidFill>
                  <a:srgbClr val="000000"/>
                </a:solidFill>
                <a:latin typeface="Arial"/>
                <a:ea typeface="Arial"/>
                <a:cs typeface="Arial"/>
                <a:sym typeface="Arial"/>
              </a:endParaRPr>
            </a:p>
          </p:txBody>
        </p:sp>
        <p:sp>
          <p:nvSpPr>
            <p:cNvPr id="115" name="Google Shape;115;p4"/>
            <p:cNvSpPr/>
            <p:nvPr/>
          </p:nvSpPr>
          <p:spPr>
            <a:xfrm>
              <a:off x="0" y="1452092"/>
              <a:ext cx="4773168" cy="115984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350852" y="1713057"/>
              <a:ext cx="637913" cy="637913"/>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
            <p:cNvSpPr/>
            <p:nvPr/>
          </p:nvSpPr>
          <p:spPr>
            <a:xfrm>
              <a:off x="1339618" y="1452092"/>
              <a:ext cx="3433549" cy="115984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4"/>
            <p:cNvSpPr txBox="1"/>
            <p:nvPr/>
          </p:nvSpPr>
          <p:spPr>
            <a:xfrm>
              <a:off x="1339618" y="1452092"/>
              <a:ext cx="3433549" cy="1159843"/>
            </a:xfrm>
            <a:prstGeom prst="rect">
              <a:avLst/>
            </a:prstGeom>
            <a:noFill/>
            <a:ln>
              <a:noFill/>
            </a:ln>
          </p:spPr>
          <p:txBody>
            <a:bodyPr anchorCtr="0" anchor="ctr" bIns="122750" lIns="122750" spcFirstLastPara="1" rIns="122750" wrap="square" tIns="122750">
              <a:noAutofit/>
            </a:bodyPr>
            <a:lstStyle/>
            <a:p>
              <a:pPr indent="0" lvl="0" marL="0" marR="0" rtl="0" algn="l">
                <a:lnSpc>
                  <a:spcPct val="90000"/>
                </a:lnSpc>
                <a:spcBef>
                  <a:spcPts val="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E-Campus: A ticket selling platform for organizations on college campuses.</a:t>
              </a:r>
              <a:endParaRPr b="0" i="0" sz="1400" u="none" cap="none" strike="noStrike">
                <a:solidFill>
                  <a:srgbClr val="000000"/>
                </a:solidFill>
                <a:latin typeface="Arial"/>
                <a:ea typeface="Arial"/>
                <a:cs typeface="Arial"/>
                <a:sym typeface="Arial"/>
              </a:endParaRPr>
            </a:p>
          </p:txBody>
        </p:sp>
        <p:sp>
          <p:nvSpPr>
            <p:cNvPr id="119" name="Google Shape;119;p4"/>
            <p:cNvSpPr/>
            <p:nvPr/>
          </p:nvSpPr>
          <p:spPr>
            <a:xfrm>
              <a:off x="0" y="2901896"/>
              <a:ext cx="4773168" cy="115984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
            <p:cNvSpPr/>
            <p:nvPr/>
          </p:nvSpPr>
          <p:spPr>
            <a:xfrm>
              <a:off x="350852" y="3162861"/>
              <a:ext cx="637913" cy="637913"/>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1339618" y="2901896"/>
              <a:ext cx="3433549" cy="115984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4"/>
            <p:cNvSpPr txBox="1"/>
            <p:nvPr/>
          </p:nvSpPr>
          <p:spPr>
            <a:xfrm>
              <a:off x="1339618" y="2901896"/>
              <a:ext cx="3433549" cy="1159843"/>
            </a:xfrm>
            <a:prstGeom prst="rect">
              <a:avLst/>
            </a:prstGeom>
            <a:noFill/>
            <a:ln>
              <a:noFill/>
            </a:ln>
          </p:spPr>
          <p:txBody>
            <a:bodyPr anchorCtr="0" anchor="ctr" bIns="122750" lIns="122750" spcFirstLastPara="1" rIns="122750" wrap="square" tIns="122750">
              <a:noAutofit/>
            </a:bodyPr>
            <a:lstStyle/>
            <a:p>
              <a:pPr indent="0" lvl="0" marL="0" rtl="0" algn="l">
                <a:lnSpc>
                  <a:spcPct val="90000"/>
                </a:lnSpc>
                <a:spcBef>
                  <a:spcPts val="0"/>
                </a:spcBef>
                <a:spcAft>
                  <a:spcPts val="0"/>
                </a:spcAft>
                <a:buClr>
                  <a:schemeClr val="dk1"/>
                </a:buClr>
                <a:buSzPts val="2200"/>
                <a:buFont typeface="Calibri"/>
                <a:buNone/>
              </a:pPr>
              <a:r>
                <a:rPr lang="en-US" sz="2200">
                  <a:latin typeface="Calibri"/>
                  <a:ea typeface="Calibri"/>
                  <a:cs typeface="Calibri"/>
                  <a:sym typeface="Calibri"/>
                </a:rPr>
                <a:t>Vite+React, </a:t>
              </a:r>
              <a:r>
                <a:rPr lang="en-US" sz="2200">
                  <a:latin typeface="Calibri"/>
                  <a:ea typeface="Calibri"/>
                  <a:cs typeface="Calibri"/>
                  <a:sym typeface="Calibri"/>
                </a:rPr>
                <a:t>Node.js</a:t>
              </a:r>
              <a:r>
                <a:rPr lang="en-US">
                  <a:solidFill>
                    <a:schemeClr val="dk1"/>
                  </a:solidFill>
                </a:rPr>
                <a:t>, </a:t>
              </a:r>
              <a:r>
                <a:rPr lang="en-US" sz="2200">
                  <a:solidFill>
                    <a:schemeClr val="dk1"/>
                  </a:solidFill>
                  <a:latin typeface="Calibri"/>
                  <a:ea typeface="Calibri"/>
                  <a:cs typeface="Calibri"/>
                  <a:sym typeface="Calibri"/>
                </a:rPr>
                <a:t>Java, postgresql (neon), Docker, Google Cloud</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0" y="4351700"/>
              <a:ext cx="4773168" cy="115984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p:nvPr/>
          </p:nvSpPr>
          <p:spPr>
            <a:xfrm>
              <a:off x="350852" y="4612665"/>
              <a:ext cx="637913" cy="637913"/>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4"/>
            <p:cNvSpPr/>
            <p:nvPr/>
          </p:nvSpPr>
          <p:spPr>
            <a:xfrm>
              <a:off x="1339618" y="4351700"/>
              <a:ext cx="3433549" cy="115984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
            <p:cNvSpPr txBox="1"/>
            <p:nvPr/>
          </p:nvSpPr>
          <p:spPr>
            <a:xfrm>
              <a:off x="1339618" y="4351700"/>
              <a:ext cx="3433549" cy="1159843"/>
            </a:xfrm>
            <a:prstGeom prst="rect">
              <a:avLst/>
            </a:prstGeom>
            <a:noFill/>
            <a:ln>
              <a:noFill/>
            </a:ln>
          </p:spPr>
          <p:txBody>
            <a:bodyPr anchorCtr="0" anchor="ctr" bIns="122750" lIns="122750" spcFirstLastPara="1" rIns="122750" wrap="square" tIns="122750">
              <a:noAutofit/>
            </a:bodyPr>
            <a:lstStyle/>
            <a:p>
              <a:pPr indent="0" lvl="0" marL="0" marR="0" rtl="0" algn="l">
                <a:lnSpc>
                  <a:spcPct val="90000"/>
                </a:lnSpc>
                <a:spcBef>
                  <a:spcPts val="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A simple percent fee for every ticket sold</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6"/>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32" name="Google Shape;132;p6"/>
          <p:cNvGrpSpPr/>
          <p:nvPr/>
        </p:nvGrpSpPr>
        <p:grpSpPr>
          <a:xfrm>
            <a:off x="0" y="1216597"/>
            <a:ext cx="548639" cy="673460"/>
            <a:chOff x="3940602" y="308034"/>
            <a:chExt cx="2116791" cy="3428999"/>
          </a:xfrm>
        </p:grpSpPr>
        <p:sp>
          <p:nvSpPr>
            <p:cNvPr id="133" name="Google Shape;133;p6"/>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 name="Google Shape;134;p6"/>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6"/>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36" name="Google Shape;136;p6"/>
          <p:cNvSpPr/>
          <p:nvPr/>
        </p:nvSpPr>
        <p:spPr>
          <a:xfrm>
            <a:off x="480059" y="613954"/>
            <a:ext cx="8180615"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 name="Google Shape;137;p6"/>
          <p:cNvSpPr txBox="1"/>
          <p:nvPr>
            <p:ph type="title"/>
          </p:nvPr>
        </p:nvSpPr>
        <p:spPr>
          <a:xfrm>
            <a:off x="782723" y="809898"/>
            <a:ext cx="7457037" cy="15544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200"/>
              <a:buFont typeface="Calibri"/>
              <a:buNone/>
            </a:pPr>
            <a:r>
              <a:rPr lang="en-US" sz="4200"/>
              <a:t>CampusTix </a:t>
            </a:r>
            <a:r>
              <a:rPr lang="en-US" sz="4200"/>
              <a:t>Landing Page</a:t>
            </a:r>
            <a:endParaRPr/>
          </a:p>
        </p:txBody>
      </p:sp>
      <p:cxnSp>
        <p:nvCxnSpPr>
          <p:cNvPr id="138" name="Google Shape;138;p6"/>
          <p:cNvCxnSpPr/>
          <p:nvPr/>
        </p:nvCxnSpPr>
        <p:spPr>
          <a:xfrm rot="10800000">
            <a:off x="628650" y="6485313"/>
            <a:ext cx="7886700" cy="0"/>
          </a:xfrm>
          <a:prstGeom prst="straightConnector1">
            <a:avLst/>
          </a:prstGeom>
          <a:noFill/>
          <a:ln cap="flat" cmpd="sng" w="57150">
            <a:solidFill>
              <a:schemeClr val="accent4"/>
            </a:solidFill>
            <a:prstDash val="solid"/>
            <a:round/>
            <a:headEnd len="sm" w="sm" type="none"/>
            <a:tailEnd len="sm" w="sm" type="none"/>
          </a:ln>
        </p:spPr>
      </p:cxnSp>
      <p:pic>
        <p:nvPicPr>
          <p:cNvPr id="139" name="Google Shape;139;p6"/>
          <p:cNvPicPr preferRelativeResize="0"/>
          <p:nvPr/>
        </p:nvPicPr>
        <p:blipFill>
          <a:blip r:embed="rId3">
            <a:alphaModFix/>
          </a:blip>
          <a:stretch>
            <a:fillRect/>
          </a:stretch>
        </p:blipFill>
        <p:spPr>
          <a:xfrm>
            <a:off x="-60762" y="2364384"/>
            <a:ext cx="9144002" cy="45266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p5"/>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 name="Google Shape;145;p5"/>
          <p:cNvSpPr txBox="1"/>
          <p:nvPr>
            <p:ph type="title"/>
          </p:nvPr>
        </p:nvSpPr>
        <p:spPr>
          <a:xfrm>
            <a:off x="595246" y="386930"/>
            <a:ext cx="7549592" cy="12984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alibri"/>
              <a:buNone/>
            </a:pPr>
            <a:r>
              <a:rPr lang="en-US" sz="4200"/>
              <a:t>Buying Ticket </a:t>
            </a:r>
            <a:r>
              <a:rPr lang="en-US" sz="4200">
                <a:solidFill>
                  <a:schemeClr val="dk1"/>
                </a:solidFill>
                <a:latin typeface="Calibri"/>
                <a:ea typeface="Calibri"/>
                <a:cs typeface="Calibri"/>
                <a:sym typeface="Calibri"/>
              </a:rPr>
              <a:t>Use Case</a:t>
            </a:r>
            <a:endParaRPr/>
          </a:p>
        </p:txBody>
      </p:sp>
      <p:sp>
        <p:nvSpPr>
          <p:cNvPr id="146" name="Google Shape;146;p5"/>
          <p:cNvSpPr/>
          <p:nvPr/>
        </p:nvSpPr>
        <p:spPr>
          <a:xfrm rot="10800000">
            <a:off x="-1" y="1998845"/>
            <a:ext cx="859094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p5"/>
          <p:cNvSpPr/>
          <p:nvPr/>
        </p:nvSpPr>
        <p:spPr>
          <a:xfrm>
            <a:off x="0" y="2203079"/>
            <a:ext cx="8537521" cy="4267991"/>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 name="Google Shape;148;p5"/>
          <p:cNvSpPr txBox="1"/>
          <p:nvPr>
            <p:ph idx="2" type="body"/>
          </p:nvPr>
        </p:nvSpPr>
        <p:spPr>
          <a:xfrm>
            <a:off x="429600" y="3986050"/>
            <a:ext cx="8205000" cy="1877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1700"/>
              <a:t>This use case shows how a customer/student can buy a </a:t>
            </a:r>
            <a:r>
              <a:rPr lang="en-US" sz="1700"/>
              <a:t>ticket for an event, which is how we, the app owners, will be generating revenue.</a:t>
            </a:r>
            <a:endParaRPr sz="1700"/>
          </a:p>
          <a:p>
            <a:pPr indent="0" lvl="0" marL="0" rtl="0" algn="l">
              <a:lnSpc>
                <a:spcPct val="90000"/>
              </a:lnSpc>
              <a:spcBef>
                <a:spcPts val="0"/>
              </a:spcBef>
              <a:spcAft>
                <a:spcPts val="0"/>
              </a:spcAft>
              <a:buNone/>
            </a:pPr>
            <a:r>
              <a:t/>
            </a:r>
            <a:endParaRPr sz="1700"/>
          </a:p>
          <a:p>
            <a:pPr indent="0" lvl="0" marL="0" rtl="0" algn="l">
              <a:lnSpc>
                <a:spcPct val="90000"/>
              </a:lnSpc>
              <a:spcBef>
                <a:spcPts val="0"/>
              </a:spcBef>
              <a:spcAft>
                <a:spcPts val="0"/>
              </a:spcAft>
              <a:buNone/>
            </a:pPr>
            <a:r>
              <a:rPr lang="en-US" sz="1700"/>
              <a:t>We will now show this use case on the web application.</a:t>
            </a:r>
            <a:endParaRPr sz="1700"/>
          </a:p>
        </p:txBody>
      </p:sp>
      <p:sp>
        <p:nvSpPr>
          <p:cNvPr id="149" name="Google Shape;149;p5"/>
          <p:cNvSpPr/>
          <p:nvPr/>
        </p:nvSpPr>
        <p:spPr>
          <a:xfrm rot="5400000">
            <a:off x="8323318" y="2332075"/>
            <a:ext cx="781700" cy="11428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0" name="Google Shape;150;p5"/>
          <p:cNvPicPr preferRelativeResize="0"/>
          <p:nvPr/>
        </p:nvPicPr>
        <p:blipFill>
          <a:blip r:embed="rId3">
            <a:alphaModFix/>
          </a:blip>
          <a:stretch>
            <a:fillRect/>
          </a:stretch>
        </p:blipFill>
        <p:spPr>
          <a:xfrm>
            <a:off x="4" y="1897037"/>
            <a:ext cx="9064185" cy="18773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g3ace6cc5954_0_6"/>
          <p:cNvSpPr/>
          <p:nvPr/>
        </p:nvSpPr>
        <p:spPr>
          <a:xfrm>
            <a:off x="0" y="0"/>
            <a:ext cx="9144000" cy="6857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g3ace6cc5954_0_6"/>
          <p:cNvSpPr txBox="1"/>
          <p:nvPr>
            <p:ph type="title"/>
          </p:nvPr>
        </p:nvSpPr>
        <p:spPr>
          <a:xfrm>
            <a:off x="595246" y="386930"/>
            <a:ext cx="7549500" cy="1298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alibri"/>
              <a:buNone/>
            </a:pPr>
            <a:r>
              <a:rPr lang="en-US" sz="4200"/>
              <a:t>Creating Organization Use Case</a:t>
            </a:r>
            <a:endParaRPr/>
          </a:p>
        </p:txBody>
      </p:sp>
      <p:sp>
        <p:nvSpPr>
          <p:cNvPr id="157" name="Google Shape;157;g3ace6cc5954_0_6"/>
          <p:cNvSpPr/>
          <p:nvPr/>
        </p:nvSpPr>
        <p:spPr>
          <a:xfrm rot="10800000">
            <a:off x="144" y="1998744"/>
            <a:ext cx="8590800" cy="781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 name="Google Shape;158;g3ace6cc5954_0_6"/>
          <p:cNvSpPr/>
          <p:nvPr/>
        </p:nvSpPr>
        <p:spPr>
          <a:xfrm>
            <a:off x="0" y="2203079"/>
            <a:ext cx="8537400" cy="4268100"/>
          </a:xfrm>
          <a:prstGeom prst="rect">
            <a:avLst/>
          </a:prstGeom>
          <a:solidFill>
            <a:schemeClr val="lt1"/>
          </a:solidFill>
          <a:ln>
            <a:noFill/>
          </a:ln>
          <a:effectLst>
            <a:outerShdw blurRad="139700" rotWithShape="0" algn="t" dir="5400000" dist="127000">
              <a:srgbClr val="000000">
                <a:alpha val="1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9" name="Google Shape;159;g3ace6cc5954_0_6"/>
          <p:cNvSpPr txBox="1"/>
          <p:nvPr>
            <p:ph idx="2" type="body"/>
          </p:nvPr>
        </p:nvSpPr>
        <p:spPr>
          <a:xfrm>
            <a:off x="383700" y="3826925"/>
            <a:ext cx="8153700" cy="2071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1700"/>
              <a:t>This use case shows how an organization can be created within our application by some students. This newly formed group of students can then create events and sell tickets, generating revenue for their organization and our application.</a:t>
            </a:r>
            <a:endParaRPr sz="1700"/>
          </a:p>
          <a:p>
            <a:pPr indent="0" lvl="0" marL="457200" rtl="0" algn="l">
              <a:lnSpc>
                <a:spcPct val="90000"/>
              </a:lnSpc>
              <a:spcBef>
                <a:spcPts val="0"/>
              </a:spcBef>
              <a:spcAft>
                <a:spcPts val="0"/>
              </a:spcAft>
              <a:buNone/>
            </a:pPr>
            <a:r>
              <a:t/>
            </a:r>
            <a:endParaRPr sz="1700"/>
          </a:p>
          <a:p>
            <a:pPr indent="0" lvl="0" marL="0" rtl="0" algn="l">
              <a:lnSpc>
                <a:spcPct val="90000"/>
              </a:lnSpc>
              <a:spcBef>
                <a:spcPts val="0"/>
              </a:spcBef>
              <a:spcAft>
                <a:spcPts val="0"/>
              </a:spcAft>
              <a:buNone/>
            </a:pPr>
            <a:r>
              <a:rPr lang="en-US" sz="1700"/>
              <a:t>We will now show this use case on the web application.</a:t>
            </a:r>
            <a:endParaRPr sz="1700"/>
          </a:p>
        </p:txBody>
      </p:sp>
      <p:sp>
        <p:nvSpPr>
          <p:cNvPr id="160" name="Google Shape;160;g3ace6cc5954_0_6"/>
          <p:cNvSpPr/>
          <p:nvPr/>
        </p:nvSpPr>
        <p:spPr>
          <a:xfrm rot="5400000">
            <a:off x="8323262" y="2332119"/>
            <a:ext cx="781800" cy="1143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61" name="Google Shape;161;g3ace6cc5954_0_6"/>
          <p:cNvPicPr preferRelativeResize="0"/>
          <p:nvPr/>
        </p:nvPicPr>
        <p:blipFill rotWithShape="1">
          <a:blip r:embed="rId3">
            <a:alphaModFix/>
          </a:blip>
          <a:srcRect b="0" l="0" r="0" t="0"/>
          <a:stretch/>
        </p:blipFill>
        <p:spPr>
          <a:xfrm>
            <a:off x="0" y="1998376"/>
            <a:ext cx="9144000" cy="16413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65" name="Shape 165"/>
        <p:cNvGrpSpPr/>
        <p:nvPr/>
      </p:nvGrpSpPr>
      <p:grpSpPr>
        <a:xfrm>
          <a:off x="0" y="0"/>
          <a:ext cx="0" cy="0"/>
          <a:chOff x="0" y="0"/>
          <a:chExt cx="0" cy="0"/>
        </a:xfrm>
      </p:grpSpPr>
      <p:sp>
        <p:nvSpPr>
          <p:cNvPr id="166" name="Google Shape;166;p7"/>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7"/>
          <p:cNvSpPr txBox="1"/>
          <p:nvPr>
            <p:ph type="title"/>
          </p:nvPr>
        </p:nvSpPr>
        <p:spPr>
          <a:xfrm>
            <a:off x="712303" y="689305"/>
            <a:ext cx="6927600" cy="11889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4230"/>
              <a:buFont typeface="Calibri"/>
              <a:buNone/>
            </a:pPr>
            <a:r>
              <a:rPr lang="en-US" sz="3530"/>
              <a:t>User Action Demo (i think this is error in the format because we have already done this above)</a:t>
            </a:r>
            <a:endParaRPr sz="3259"/>
          </a:p>
        </p:txBody>
      </p:sp>
      <p:grpSp>
        <p:nvGrpSpPr>
          <p:cNvPr id="168" name="Google Shape;168;p7"/>
          <p:cNvGrpSpPr/>
          <p:nvPr/>
        </p:nvGrpSpPr>
        <p:grpSpPr>
          <a:xfrm>
            <a:off x="-1" y="1998368"/>
            <a:ext cx="8771274" cy="782176"/>
            <a:chOff x="-2" y="1998368"/>
            <a:chExt cx="11695083" cy="782176"/>
          </a:xfrm>
        </p:grpSpPr>
        <p:sp>
          <p:nvSpPr>
            <p:cNvPr id="169" name="Google Shape;169;p7"/>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7"/>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71" name="Google Shape;171;p7"/>
          <p:cNvSpPr/>
          <p:nvPr/>
        </p:nvSpPr>
        <p:spPr>
          <a:xfrm>
            <a:off x="0" y="2203079"/>
            <a:ext cx="8537521" cy="4147845"/>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7"/>
          <p:cNvSpPr txBox="1"/>
          <p:nvPr>
            <p:ph idx="1" type="body"/>
          </p:nvPr>
        </p:nvSpPr>
        <p:spPr>
          <a:xfrm>
            <a:off x="595245" y="2599509"/>
            <a:ext cx="7607751" cy="343553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100"/>
              <a:buNone/>
            </a:pPr>
            <a:r>
              <a:rPr lang="en-US" sz="2100"/>
              <a:t>DEMO Live one valid user action within the project, such as registration, purchasing, or interacting with the recommendation engine, highlighting the user experience and functionality. (via such as Web Page, App UI, Jupiter Editor, Visual Studio, Java 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g3ace6cc5954_0_21"/>
          <p:cNvSpPr/>
          <p:nvPr/>
        </p:nvSpPr>
        <p:spPr>
          <a:xfrm>
            <a:off x="0" y="0"/>
            <a:ext cx="9144000" cy="6857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8" name="Google Shape;178;g3ace6cc5954_0_21"/>
          <p:cNvSpPr txBox="1"/>
          <p:nvPr>
            <p:ph type="title"/>
          </p:nvPr>
        </p:nvSpPr>
        <p:spPr>
          <a:xfrm>
            <a:off x="606478" y="386930"/>
            <a:ext cx="6927600" cy="11889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700"/>
              <a:buFont typeface="Calibri"/>
              <a:buNone/>
            </a:pPr>
            <a:r>
              <a:rPr lang="en-US" sz="4700"/>
              <a:t>Revenue </a:t>
            </a:r>
            <a:r>
              <a:rPr lang="en-US" sz="4700"/>
              <a:t>Demo from App</a:t>
            </a:r>
            <a:endParaRPr/>
          </a:p>
        </p:txBody>
      </p:sp>
      <p:grpSp>
        <p:nvGrpSpPr>
          <p:cNvPr id="179" name="Google Shape;179;g3ace6cc5954_0_21"/>
          <p:cNvGrpSpPr/>
          <p:nvPr/>
        </p:nvGrpSpPr>
        <p:grpSpPr>
          <a:xfrm>
            <a:off x="-5" y="1998368"/>
            <a:ext cx="8771316" cy="782176"/>
            <a:chOff x="-7" y="1998368"/>
            <a:chExt cx="11695088" cy="782176"/>
          </a:xfrm>
        </p:grpSpPr>
        <p:sp>
          <p:nvSpPr>
            <p:cNvPr id="180" name="Google Shape;180;g3ace6cc5954_0_21"/>
            <p:cNvSpPr/>
            <p:nvPr/>
          </p:nvSpPr>
          <p:spPr>
            <a:xfrm rot="5400000">
              <a:off x="11227981" y="2313068"/>
              <a:ext cx="781800" cy="152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g3ace6cc5954_0_21"/>
            <p:cNvSpPr/>
            <p:nvPr/>
          </p:nvSpPr>
          <p:spPr>
            <a:xfrm rot="10800000">
              <a:off x="-7" y="1998744"/>
              <a:ext cx="11454600" cy="781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82" name="Google Shape;182;g3ace6cc5954_0_21"/>
          <p:cNvSpPr/>
          <p:nvPr/>
        </p:nvSpPr>
        <p:spPr>
          <a:xfrm>
            <a:off x="0" y="2203079"/>
            <a:ext cx="8537400" cy="4147800"/>
          </a:xfrm>
          <a:prstGeom prst="rect">
            <a:avLst/>
          </a:prstGeom>
          <a:solidFill>
            <a:schemeClr val="lt1"/>
          </a:solidFill>
          <a:ln>
            <a:noFill/>
          </a:ln>
          <a:effectLst>
            <a:outerShdw blurRad="139700" rotWithShape="0" algn="t" dir="5400000" dist="127000">
              <a:srgbClr val="000000">
                <a:alpha val="1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g3ace6cc5954_0_21"/>
          <p:cNvSpPr txBox="1"/>
          <p:nvPr>
            <p:ph idx="1" type="body"/>
          </p:nvPr>
        </p:nvSpPr>
        <p:spPr>
          <a:xfrm>
            <a:off x="581795" y="1934259"/>
            <a:ext cx="7607700" cy="3435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100"/>
              <a:buNone/>
            </a:pPr>
            <a:r>
              <a:rPr lang="en-US" sz="2100"/>
              <a:t>We will now show the simulated revenue projections based on how the application’s potential earnings may look if it was deployed and promoted to colleges.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8"/>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9" name="Google Shape;189;p8"/>
          <p:cNvSpPr txBox="1"/>
          <p:nvPr>
            <p:ph type="title"/>
          </p:nvPr>
        </p:nvSpPr>
        <p:spPr>
          <a:xfrm>
            <a:off x="233208" y="-464945"/>
            <a:ext cx="7549500" cy="1298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alibri"/>
              <a:buNone/>
            </a:pPr>
            <a:r>
              <a:rPr lang="en-US" sz="4200"/>
              <a:t>2NF Relational Model Diagram</a:t>
            </a:r>
            <a:endParaRPr/>
          </a:p>
        </p:txBody>
      </p:sp>
      <p:sp>
        <p:nvSpPr>
          <p:cNvPr id="190" name="Google Shape;190;p8"/>
          <p:cNvSpPr/>
          <p:nvPr/>
        </p:nvSpPr>
        <p:spPr>
          <a:xfrm rot="10800000">
            <a:off x="-1" y="1998845"/>
            <a:ext cx="859094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 name="Google Shape;191;p8"/>
          <p:cNvSpPr/>
          <p:nvPr/>
        </p:nvSpPr>
        <p:spPr>
          <a:xfrm>
            <a:off x="0" y="2203079"/>
            <a:ext cx="8537521" cy="4267991"/>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 name="Google Shape;192;p8"/>
          <p:cNvSpPr txBox="1"/>
          <p:nvPr>
            <p:ph idx="2" type="body"/>
          </p:nvPr>
        </p:nvSpPr>
        <p:spPr>
          <a:xfrm>
            <a:off x="286925" y="5026000"/>
            <a:ext cx="8250600" cy="176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1700"/>
              <a:t>This is our updated relational model diagram. The biggest change is the addition of a fee table, to showcase how the application will earn money. This fee table allows us to implement a different policy for fees taken for specific reasons like a promotional period.</a:t>
            </a:r>
            <a:endParaRPr sz="1700"/>
          </a:p>
        </p:txBody>
      </p:sp>
      <p:sp>
        <p:nvSpPr>
          <p:cNvPr id="193" name="Google Shape;193;p8"/>
          <p:cNvSpPr/>
          <p:nvPr/>
        </p:nvSpPr>
        <p:spPr>
          <a:xfrm rot="5400000">
            <a:off x="8323318" y="2332075"/>
            <a:ext cx="781700" cy="11428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4" name="Google Shape;194;p8"/>
          <p:cNvPicPr preferRelativeResize="0"/>
          <p:nvPr/>
        </p:nvPicPr>
        <p:blipFill>
          <a:blip r:embed="rId3">
            <a:alphaModFix/>
          </a:blip>
          <a:stretch>
            <a:fillRect/>
          </a:stretch>
        </p:blipFill>
        <p:spPr>
          <a:xfrm>
            <a:off x="1037088" y="833450"/>
            <a:ext cx="6516774" cy="47166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9"/>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00" name="Google Shape;200;p9"/>
          <p:cNvGrpSpPr/>
          <p:nvPr/>
        </p:nvGrpSpPr>
        <p:grpSpPr>
          <a:xfrm>
            <a:off x="0" y="1216597"/>
            <a:ext cx="548639" cy="673460"/>
            <a:chOff x="3940602" y="308034"/>
            <a:chExt cx="2116791" cy="3428999"/>
          </a:xfrm>
        </p:grpSpPr>
        <p:sp>
          <p:nvSpPr>
            <p:cNvPr id="201" name="Google Shape;201;p9"/>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9"/>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p9"/>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04" name="Google Shape;204;p9"/>
          <p:cNvSpPr/>
          <p:nvPr/>
        </p:nvSpPr>
        <p:spPr>
          <a:xfrm>
            <a:off x="480059" y="613954"/>
            <a:ext cx="8180615"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p9"/>
          <p:cNvSpPr txBox="1"/>
          <p:nvPr>
            <p:ph type="title"/>
          </p:nvPr>
        </p:nvSpPr>
        <p:spPr>
          <a:xfrm>
            <a:off x="782723" y="809898"/>
            <a:ext cx="7457037" cy="15544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200"/>
              <a:buFont typeface="Calibri"/>
              <a:buNone/>
            </a:pPr>
            <a:r>
              <a:rPr lang="en-US" sz="4200"/>
              <a:t>Stored Procedures Demonstration</a:t>
            </a:r>
            <a:endParaRPr/>
          </a:p>
        </p:txBody>
      </p:sp>
      <p:sp>
        <p:nvSpPr>
          <p:cNvPr id="206" name="Google Shape;206;p9"/>
          <p:cNvSpPr txBox="1"/>
          <p:nvPr>
            <p:ph idx="1" type="body"/>
          </p:nvPr>
        </p:nvSpPr>
        <p:spPr>
          <a:xfrm>
            <a:off x="783771" y="3017522"/>
            <a:ext cx="7455989" cy="3124658"/>
          </a:xfrm>
          <a:prstGeom prst="rect">
            <a:avLst/>
          </a:prstGeom>
          <a:noFill/>
          <a:ln>
            <a:noFill/>
          </a:ln>
        </p:spPr>
        <p:txBody>
          <a:bodyPr anchorCtr="0" anchor="ctr" bIns="45700" lIns="91425" spcFirstLastPara="1" rIns="91425" wrap="square" tIns="45700">
            <a:normAutofit lnSpcReduction="10000"/>
          </a:bodyPr>
          <a:lstStyle/>
          <a:p>
            <a:pPr indent="-361950" lvl="0" marL="457200" rtl="0" algn="l">
              <a:lnSpc>
                <a:spcPct val="100000"/>
              </a:lnSpc>
              <a:spcBef>
                <a:spcPts val="0"/>
              </a:spcBef>
              <a:spcAft>
                <a:spcPts val="0"/>
              </a:spcAft>
              <a:buSzPts val="2100"/>
              <a:buAutoNum type="arabicPeriod"/>
            </a:pPr>
            <a:r>
              <a:rPr lang="en-US" sz="2100"/>
              <a:t>get_user_ticket_count</a:t>
            </a:r>
            <a:r>
              <a:rPr lang="en-US" sz="2100"/>
              <a:t>: This stored procedure allows us to have only one place for the code</a:t>
            </a:r>
            <a:r>
              <a:rPr lang="en-US" sz="2100"/>
              <a:t>, which can be easily modified, making it easier for us to modify the code if we potentially evolve the schema in the future.</a:t>
            </a:r>
            <a:endParaRPr sz="2100"/>
          </a:p>
          <a:p>
            <a:pPr indent="-361950" lvl="0" marL="457200" rtl="0" algn="l">
              <a:lnSpc>
                <a:spcPct val="100000"/>
              </a:lnSpc>
              <a:spcBef>
                <a:spcPts val="0"/>
              </a:spcBef>
              <a:spcAft>
                <a:spcPts val="0"/>
              </a:spcAft>
              <a:buSzPts val="2100"/>
              <a:buAutoNum type="arabicPeriod"/>
            </a:pPr>
            <a:r>
              <a:rPr lang="en-US" sz="2100"/>
              <a:t>get_event_analytics: This stored procedure has the above benefit and also allows us to do all the statements of the functionality in a simple line, making our code more understandable.</a:t>
            </a:r>
            <a:endParaRPr sz="2100"/>
          </a:p>
          <a:p>
            <a:pPr indent="0" lvl="0" marL="457200" rtl="0" algn="l">
              <a:lnSpc>
                <a:spcPct val="100000"/>
              </a:lnSpc>
              <a:spcBef>
                <a:spcPts val="0"/>
              </a:spcBef>
              <a:spcAft>
                <a:spcPts val="0"/>
              </a:spcAft>
              <a:buNone/>
            </a:pPr>
            <a:r>
              <a:t/>
            </a:r>
            <a:endParaRPr sz="1300"/>
          </a:p>
          <a:p>
            <a:pPr indent="0" lvl="0" marL="457200" rtl="0" algn="l">
              <a:lnSpc>
                <a:spcPct val="100000"/>
              </a:lnSpc>
              <a:spcBef>
                <a:spcPts val="0"/>
              </a:spcBef>
              <a:spcAft>
                <a:spcPts val="0"/>
              </a:spcAft>
              <a:buNone/>
            </a:pPr>
            <a:r>
              <a:rPr lang="en-US" sz="1400"/>
              <a:t>Other stored procedures: delete_event_cascade, get_tickets_sold, check_event_capacity, purchase_ticket, register_user, add_org_leader, etc</a:t>
            </a:r>
            <a:endParaRPr sz="1400"/>
          </a:p>
        </p:txBody>
      </p:sp>
      <p:cxnSp>
        <p:nvCxnSpPr>
          <p:cNvPr id="207" name="Google Shape;207;p9"/>
          <p:cNvCxnSpPr/>
          <p:nvPr/>
        </p:nvCxnSpPr>
        <p:spPr>
          <a:xfrm rot="10800000">
            <a:off x="628650" y="6485313"/>
            <a:ext cx="7886700" cy="0"/>
          </a:xfrm>
          <a:prstGeom prst="straightConnector1">
            <a:avLst/>
          </a:prstGeom>
          <a:noFill/>
          <a:ln cap="flat" cmpd="sng" w="57150">
            <a:solidFill>
              <a:schemeClr val="accent4"/>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g3ac886822bd_0_0"/>
          <p:cNvSpPr/>
          <p:nvPr/>
        </p:nvSpPr>
        <p:spPr>
          <a:xfrm>
            <a:off x="0" y="0"/>
            <a:ext cx="9144000" cy="6857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13" name="Google Shape;213;g3ac886822bd_0_0"/>
          <p:cNvGrpSpPr/>
          <p:nvPr/>
        </p:nvGrpSpPr>
        <p:grpSpPr>
          <a:xfrm>
            <a:off x="62" y="1216597"/>
            <a:ext cx="548661" cy="673456"/>
            <a:chOff x="3940602" y="308034"/>
            <a:chExt cx="2116748" cy="3429000"/>
          </a:xfrm>
        </p:grpSpPr>
        <p:sp>
          <p:nvSpPr>
            <p:cNvPr id="214" name="Google Shape;214;g3ac886822bd_0_0"/>
            <p:cNvSpPr/>
            <p:nvPr/>
          </p:nvSpPr>
          <p:spPr>
            <a:xfrm>
              <a:off x="3940602"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g3ac886822bd_0_0"/>
            <p:cNvSpPr/>
            <p:nvPr/>
          </p:nvSpPr>
          <p:spPr>
            <a:xfrm>
              <a:off x="4715626"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 name="Google Shape;216;g3ac886822bd_0_0"/>
            <p:cNvSpPr/>
            <p:nvPr/>
          </p:nvSpPr>
          <p:spPr>
            <a:xfrm>
              <a:off x="5490650"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17" name="Google Shape;217;g3ac886822bd_0_0"/>
          <p:cNvSpPr/>
          <p:nvPr/>
        </p:nvSpPr>
        <p:spPr>
          <a:xfrm>
            <a:off x="480059" y="613954"/>
            <a:ext cx="8180700" cy="1894200"/>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g3ac886822bd_0_0"/>
          <p:cNvSpPr txBox="1"/>
          <p:nvPr>
            <p:ph type="title"/>
          </p:nvPr>
        </p:nvSpPr>
        <p:spPr>
          <a:xfrm>
            <a:off x="782723" y="809898"/>
            <a:ext cx="7457100" cy="1554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200"/>
              <a:buFont typeface="Calibri"/>
              <a:buNone/>
            </a:pPr>
            <a:r>
              <a:rPr lang="en-US" sz="4200"/>
              <a:t>Takeaways </a:t>
            </a:r>
            <a:endParaRPr/>
          </a:p>
        </p:txBody>
      </p:sp>
      <p:sp>
        <p:nvSpPr>
          <p:cNvPr id="219" name="Google Shape;219;g3ac886822bd_0_0"/>
          <p:cNvSpPr txBox="1"/>
          <p:nvPr>
            <p:ph idx="1" type="body"/>
          </p:nvPr>
        </p:nvSpPr>
        <p:spPr>
          <a:xfrm>
            <a:off x="783771" y="3017522"/>
            <a:ext cx="7455900" cy="3124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100"/>
              <a:buNone/>
            </a:pPr>
            <a:r>
              <a:rPr lang="en-US" sz="2000"/>
              <a:t>During this project, we used Google Cloud Pub/Sub along with websockets in our </a:t>
            </a:r>
            <a:r>
              <a:rPr lang="en-US" sz="2000"/>
              <a:t>application. This combination of new features allowed us to develop our application to be more advanced, having closer functionality to actual enterprise applications, rather than more simplistic student projects that might refresh the page for every update, no matter how small. This use of this technology was useful not just for the application, but for us to learn about real world development practices.</a:t>
            </a:r>
            <a:endParaRPr sz="2000"/>
          </a:p>
        </p:txBody>
      </p:sp>
      <p:cxnSp>
        <p:nvCxnSpPr>
          <p:cNvPr id="220" name="Google Shape;220;g3ac886822bd_0_0"/>
          <p:cNvCxnSpPr/>
          <p:nvPr/>
        </p:nvCxnSpPr>
        <p:spPr>
          <a:xfrm rot="10800000">
            <a:off x="628650" y="6485313"/>
            <a:ext cx="7886700" cy="0"/>
          </a:xfrm>
          <a:prstGeom prst="straightConnector1">
            <a:avLst/>
          </a:prstGeom>
          <a:noFill/>
          <a:ln cap="flat" cmpd="sng" w="57150">
            <a:solidFill>
              <a:schemeClr val="accent4"/>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11"/>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26" name="Google Shape;226;p11"/>
          <p:cNvGrpSpPr/>
          <p:nvPr/>
        </p:nvGrpSpPr>
        <p:grpSpPr>
          <a:xfrm>
            <a:off x="0" y="1216597"/>
            <a:ext cx="548639" cy="673460"/>
            <a:chOff x="3940602" y="308034"/>
            <a:chExt cx="2116791" cy="3428999"/>
          </a:xfrm>
        </p:grpSpPr>
        <p:sp>
          <p:nvSpPr>
            <p:cNvPr id="227" name="Google Shape;227;p11"/>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p11"/>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9" name="Google Shape;229;p11"/>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30" name="Google Shape;230;p11"/>
          <p:cNvSpPr/>
          <p:nvPr/>
        </p:nvSpPr>
        <p:spPr>
          <a:xfrm>
            <a:off x="480059" y="613954"/>
            <a:ext cx="8180615"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p11"/>
          <p:cNvSpPr txBox="1"/>
          <p:nvPr>
            <p:ph type="title"/>
          </p:nvPr>
        </p:nvSpPr>
        <p:spPr>
          <a:xfrm>
            <a:off x="782723" y="809898"/>
            <a:ext cx="7457037" cy="15544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200"/>
              <a:buFont typeface="Calibri"/>
              <a:buNone/>
            </a:pPr>
            <a:r>
              <a:rPr lang="en-US" sz="4200"/>
              <a:t>Extra Credit Work</a:t>
            </a:r>
            <a:endParaRPr/>
          </a:p>
        </p:txBody>
      </p:sp>
      <p:sp>
        <p:nvSpPr>
          <p:cNvPr id="232" name="Google Shape;232;p11"/>
          <p:cNvSpPr txBox="1"/>
          <p:nvPr>
            <p:ph idx="1" type="body"/>
          </p:nvPr>
        </p:nvSpPr>
        <p:spPr>
          <a:xfrm>
            <a:off x="783246" y="3017522"/>
            <a:ext cx="7455900" cy="3124800"/>
          </a:xfrm>
          <a:prstGeom prst="rect">
            <a:avLst/>
          </a:prstGeom>
          <a:noFill/>
          <a:ln>
            <a:noFill/>
          </a:ln>
        </p:spPr>
        <p:txBody>
          <a:bodyPr anchorCtr="0" anchor="ctr" bIns="45700" lIns="91425" spcFirstLastPara="1" rIns="91425" wrap="square" tIns="45700">
            <a:normAutofit lnSpcReduction="20000"/>
          </a:bodyPr>
          <a:lstStyle/>
          <a:p>
            <a:pPr indent="0" lvl="0" marL="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SzPts val="2100"/>
              <a:buAutoNum type="arabicPeriod"/>
            </a:pPr>
            <a:r>
              <a:rPr lang="en-US" sz="2100"/>
              <a:t>Docker: We containerized our frontend and our backend, </a:t>
            </a:r>
            <a:r>
              <a:rPr lang="en-US" sz="2100"/>
              <a:t>standardizing</a:t>
            </a:r>
            <a:r>
              <a:rPr lang="en-US" sz="2100"/>
              <a:t> our web application for local and cloud use.</a:t>
            </a:r>
            <a:endParaRPr sz="2100"/>
          </a:p>
          <a:p>
            <a:pPr indent="-361950" lvl="0" marL="457200" rtl="0" algn="l">
              <a:lnSpc>
                <a:spcPct val="100000"/>
              </a:lnSpc>
              <a:spcBef>
                <a:spcPts val="0"/>
              </a:spcBef>
              <a:spcAft>
                <a:spcPts val="0"/>
              </a:spcAft>
              <a:buSzPts val="2100"/>
              <a:buAutoNum type="arabicPeriod"/>
            </a:pPr>
            <a:r>
              <a:rPr lang="en-US" sz="2100"/>
              <a:t>Hosted on Google Cloud: The </a:t>
            </a:r>
            <a:r>
              <a:rPr lang="en-US" sz="2100"/>
              <a:t>frontend</a:t>
            </a:r>
            <a:r>
              <a:rPr lang="en-US" sz="2100"/>
              <a:t> and backend are hosted as 2 </a:t>
            </a:r>
            <a:r>
              <a:rPr lang="en-US" sz="2100"/>
              <a:t>separate</a:t>
            </a:r>
            <a:r>
              <a:rPr lang="en-US" sz="2100"/>
              <a:t> Google Cloud Services. We also </a:t>
            </a:r>
            <a:r>
              <a:rPr lang="en-US" sz="2100"/>
              <a:t>utilized</a:t>
            </a:r>
            <a:r>
              <a:rPr lang="en-US" sz="2100"/>
              <a:t> Google Cloud Pub/Sub for </a:t>
            </a:r>
            <a:r>
              <a:rPr lang="en-US" sz="2100"/>
              <a:t>real time</a:t>
            </a:r>
            <a:r>
              <a:rPr lang="en-US" sz="2100"/>
              <a:t> functionality, connected to a websocket on the backend</a:t>
            </a:r>
            <a:r>
              <a:rPr lang="en-US" sz="2100"/>
              <a:t>.</a:t>
            </a:r>
            <a:endParaRPr sz="2100"/>
          </a:p>
          <a:p>
            <a:pPr indent="-361950" lvl="0" marL="457200" rtl="0" algn="l">
              <a:lnSpc>
                <a:spcPct val="100000"/>
              </a:lnSpc>
              <a:spcBef>
                <a:spcPts val="0"/>
              </a:spcBef>
              <a:spcAft>
                <a:spcPts val="0"/>
              </a:spcAft>
              <a:buSzPts val="2100"/>
              <a:buAutoNum type="arabicPeriod"/>
            </a:pPr>
            <a:r>
              <a:rPr lang="en-US" sz="2100"/>
              <a:t>AI integration: User can describe an event via text and then have the AI select, based on that description, specific details of the event like name, description, tags, and time as specified by the user prompt.</a:t>
            </a:r>
            <a:endParaRPr sz="2100"/>
          </a:p>
        </p:txBody>
      </p:sp>
      <p:cxnSp>
        <p:nvCxnSpPr>
          <p:cNvPr id="233" name="Google Shape;233;p11"/>
          <p:cNvCxnSpPr/>
          <p:nvPr/>
        </p:nvCxnSpPr>
        <p:spPr>
          <a:xfrm rot="10800000">
            <a:off x="628650" y="6485313"/>
            <a:ext cx="7886700" cy="0"/>
          </a:xfrm>
          <a:prstGeom prst="straightConnector1">
            <a:avLst/>
          </a:prstGeom>
          <a:noFill/>
          <a:ln cap="flat" cmpd="sng" w="57150">
            <a:solidFill>
              <a:schemeClr val="accent4"/>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7" name="Shape 237"/>
        <p:cNvGrpSpPr/>
        <p:nvPr/>
      </p:nvGrpSpPr>
      <p:grpSpPr>
        <a:xfrm>
          <a:off x="0" y="0"/>
          <a:ext cx="0" cy="0"/>
          <a:chOff x="0" y="0"/>
          <a:chExt cx="0" cy="0"/>
        </a:xfrm>
      </p:grpSpPr>
      <p:sp>
        <p:nvSpPr>
          <p:cNvPr id="238" name="Google Shape;238;p12"/>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39" name="Google Shape;239;p12"/>
          <p:cNvGrpSpPr/>
          <p:nvPr/>
        </p:nvGrpSpPr>
        <p:grpSpPr>
          <a:xfrm>
            <a:off x="0" y="1216597"/>
            <a:ext cx="548639" cy="673460"/>
            <a:chOff x="3940602" y="308034"/>
            <a:chExt cx="2116791" cy="3428999"/>
          </a:xfrm>
        </p:grpSpPr>
        <p:sp>
          <p:nvSpPr>
            <p:cNvPr id="240" name="Google Shape;240;p12"/>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12"/>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12"/>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43" name="Google Shape;243;p12"/>
          <p:cNvSpPr/>
          <p:nvPr/>
        </p:nvSpPr>
        <p:spPr>
          <a:xfrm>
            <a:off x="480059" y="613954"/>
            <a:ext cx="8180615"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4" name="Google Shape;244;p12"/>
          <p:cNvSpPr txBox="1"/>
          <p:nvPr>
            <p:ph type="title"/>
          </p:nvPr>
        </p:nvSpPr>
        <p:spPr>
          <a:xfrm>
            <a:off x="782723" y="809898"/>
            <a:ext cx="7457037" cy="15544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200"/>
              <a:buFont typeface="Calibri"/>
              <a:buNone/>
            </a:pPr>
            <a:r>
              <a:rPr lang="en-US" sz="4200"/>
              <a:t>Questions and Examination</a:t>
            </a:r>
            <a:endParaRPr/>
          </a:p>
        </p:txBody>
      </p:sp>
      <p:sp>
        <p:nvSpPr>
          <p:cNvPr id="245" name="Google Shape;245;p12"/>
          <p:cNvSpPr txBox="1"/>
          <p:nvPr>
            <p:ph idx="1" type="body"/>
          </p:nvPr>
        </p:nvSpPr>
        <p:spPr>
          <a:xfrm>
            <a:off x="628646" y="2710272"/>
            <a:ext cx="7455900" cy="3124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US" sz="5000"/>
              <a:t>Any Questions?</a:t>
            </a:r>
            <a:endParaRPr sz="5000"/>
          </a:p>
        </p:txBody>
      </p:sp>
      <p:cxnSp>
        <p:nvCxnSpPr>
          <p:cNvPr id="246" name="Google Shape;246;p12"/>
          <p:cNvCxnSpPr/>
          <p:nvPr/>
        </p:nvCxnSpPr>
        <p:spPr>
          <a:xfrm rot="10800000">
            <a:off x="628650" y="6485313"/>
            <a:ext cx="7886700" cy="0"/>
          </a:xfrm>
          <a:prstGeom prst="straightConnector1">
            <a:avLst/>
          </a:prstGeom>
          <a:noFill/>
          <a:ln cap="flat" cmpd="sng" w="57150">
            <a:solidFill>
              <a:schemeClr val="accent4"/>
            </a:solidFill>
            <a:prstDash val="solid"/>
            <a:round/>
            <a:headEnd len="sm" w="sm" type="none"/>
            <a:tailEnd len="sm" w="sm" type="none"/>
          </a:ln>
        </p:spPr>
      </p:cxnSp>
      <p:pic>
        <p:nvPicPr>
          <p:cNvPr id="247" name="Google Shape;247;p12"/>
          <p:cNvPicPr preferRelativeResize="0"/>
          <p:nvPr/>
        </p:nvPicPr>
        <p:blipFill>
          <a:blip r:embed="rId3">
            <a:alphaModFix/>
          </a:blip>
          <a:stretch>
            <a:fillRect/>
          </a:stretch>
        </p:blipFill>
        <p:spPr>
          <a:xfrm>
            <a:off x="6000750" y="3270796"/>
            <a:ext cx="3011225" cy="30429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251" name="Shape 251"/>
        <p:cNvGrpSpPr/>
        <p:nvPr/>
      </p:nvGrpSpPr>
      <p:grpSpPr>
        <a:xfrm>
          <a:off x="0" y="0"/>
          <a:ext cx="0" cy="0"/>
          <a:chOff x="0" y="0"/>
          <a:chExt cx="0" cy="0"/>
        </a:xfrm>
      </p:grpSpPr>
      <p:sp>
        <p:nvSpPr>
          <p:cNvPr id="252" name="Google Shape;252;p13"/>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53" name="Google Shape;253;p13"/>
          <p:cNvGrpSpPr/>
          <p:nvPr/>
        </p:nvGrpSpPr>
        <p:grpSpPr>
          <a:xfrm>
            <a:off x="0" y="1216597"/>
            <a:ext cx="548639" cy="673460"/>
            <a:chOff x="3940602" y="308034"/>
            <a:chExt cx="2116791" cy="3428999"/>
          </a:xfrm>
        </p:grpSpPr>
        <p:sp>
          <p:nvSpPr>
            <p:cNvPr id="254" name="Google Shape;254;p13"/>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 name="Google Shape;255;p13"/>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6" name="Google Shape;256;p13"/>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57" name="Google Shape;257;p13"/>
          <p:cNvSpPr/>
          <p:nvPr/>
        </p:nvSpPr>
        <p:spPr>
          <a:xfrm>
            <a:off x="480059" y="613954"/>
            <a:ext cx="8180615"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8" name="Google Shape;258;p13"/>
          <p:cNvSpPr txBox="1"/>
          <p:nvPr>
            <p:ph type="title"/>
          </p:nvPr>
        </p:nvSpPr>
        <p:spPr>
          <a:xfrm>
            <a:off x="782723" y="809898"/>
            <a:ext cx="7457037" cy="15544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200"/>
              <a:buFont typeface="Calibri"/>
              <a:buNone/>
            </a:pPr>
            <a:r>
              <a:rPr lang="en-US" sz="4200"/>
              <a:t>Submission for Grading</a:t>
            </a:r>
            <a:endParaRPr/>
          </a:p>
        </p:txBody>
      </p:sp>
      <p:sp>
        <p:nvSpPr>
          <p:cNvPr id="259" name="Google Shape;259;p13"/>
          <p:cNvSpPr txBox="1"/>
          <p:nvPr>
            <p:ph idx="1" type="body"/>
          </p:nvPr>
        </p:nvSpPr>
        <p:spPr>
          <a:xfrm>
            <a:off x="783771" y="3017522"/>
            <a:ext cx="7455989" cy="3124658"/>
          </a:xfrm>
          <a:prstGeom prst="rect">
            <a:avLst/>
          </a:prstGeom>
          <a:noFill/>
          <a:ln>
            <a:noFill/>
          </a:ln>
        </p:spPr>
        <p:txBody>
          <a:bodyPr anchorCtr="0" anchor="ctr"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100"/>
              <a:buChar char="•"/>
            </a:pPr>
            <a:r>
              <a:rPr lang="en-US" sz="2100"/>
              <a:t>Submit your full project, incl. Diagram, Stored Procedures, Application, UI, Power Point for Demo, Via Github Classroom</a:t>
            </a:r>
            <a:endParaRPr sz="2100"/>
          </a:p>
          <a:p>
            <a:pPr indent="-342900" lvl="0" marL="342900" rtl="0" algn="l">
              <a:lnSpc>
                <a:spcPct val="100000"/>
              </a:lnSpc>
              <a:spcBef>
                <a:spcPts val="420"/>
              </a:spcBef>
              <a:spcAft>
                <a:spcPts val="0"/>
              </a:spcAft>
              <a:buClr>
                <a:schemeClr val="dk1"/>
              </a:buClr>
              <a:buSzPts val="2100"/>
              <a:buChar char="•"/>
            </a:pPr>
            <a:r>
              <a:rPr lang="en-US" sz="2100"/>
              <a:t>Cut Off Time midnight before your presentation.</a:t>
            </a:r>
            <a:endParaRPr/>
          </a:p>
        </p:txBody>
      </p:sp>
      <p:cxnSp>
        <p:nvCxnSpPr>
          <p:cNvPr id="260" name="Google Shape;260;p13"/>
          <p:cNvCxnSpPr/>
          <p:nvPr/>
        </p:nvCxnSpPr>
        <p:spPr>
          <a:xfrm rot="10800000">
            <a:off x="628650" y="6485313"/>
            <a:ext cx="7886700" cy="0"/>
          </a:xfrm>
          <a:prstGeom prst="straightConnector1">
            <a:avLst/>
          </a:prstGeom>
          <a:noFill/>
          <a:ln cap="flat" cmpd="sng" w="57150">
            <a:solidFill>
              <a:schemeClr val="accent4"/>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Sheng-Min Chen</dc:creator>
</cp:coreProperties>
</file>